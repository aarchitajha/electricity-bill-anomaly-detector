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1906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25603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B3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ELECTRICITY BILL ANOMALY DETECTOR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10472623" y="237744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343434"/>
          </a:solidFill>
          <a:ln/>
        </p:spPr>
      </p:sp>
      <p:sp>
        <p:nvSpPr>
          <p:cNvPr id="5" name="Text 2"/>
          <p:cNvSpPr/>
          <p:nvPr/>
        </p:nvSpPr>
        <p:spPr>
          <a:xfrm>
            <a:off x="10472623" y="237744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1292840" y="219456"/>
            <a:ext cx="420624" cy="420624"/>
          </a:xfrm>
          <a:prstGeom prst="ellipse">
            <a:avLst/>
          </a:prstGeom>
          <a:solidFill>
            <a:srgbClr val="3B3E61"/>
          </a:solidFill>
          <a:ln/>
        </p:spPr>
      </p:sp>
      <p:sp>
        <p:nvSpPr>
          <p:cNvPr id="7" name="Text 4"/>
          <p:cNvSpPr/>
          <p:nvPr/>
        </p:nvSpPr>
        <p:spPr>
          <a:xfrm>
            <a:off x="1129284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1480" y="635508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3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ELECTRICITY BILL ANOMALY DETECTOR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960120" y="1417320"/>
            <a:ext cx="777240" cy="777240"/>
          </a:xfrm>
          <a:prstGeom prst="donut">
            <a:avLst/>
          </a:prstGeom>
          <a:solidFill>
            <a:srgbClr val="B7C4E8"/>
          </a:solidFill>
          <a:ln w="28575">
            <a:solidFill>
              <a:srgbClr val="3B3E6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2700000">
            <a:off x="10241280" y="3246120"/>
            <a:ext cx="777240" cy="777240"/>
          </a:xfrm>
          <a:prstGeom prst="plus">
            <a:avLst/>
          </a:prstGeom>
          <a:solidFill>
            <a:srgbClr val="B7C4E8"/>
          </a:solidFill>
          <a:ln w="28575">
            <a:solidFill>
              <a:srgbClr val="3B3E6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1965960"/>
            <a:ext cx="10515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5400" dirty="0">
                <a:solidFill>
                  <a:srgbClr val="3B3E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ELECTRICITY BILL
ANOMALY DETECTOR</a:t>
            </a:r>
            <a:endParaRPr lang="en-US" sz="5400" dirty="0"/>
          </a:p>
        </p:txBody>
      </p:sp>
      <p:sp>
        <p:nvSpPr>
          <p:cNvPr id="13" name="Text 10"/>
          <p:cNvSpPr/>
          <p:nvPr/>
        </p:nvSpPr>
        <p:spPr>
          <a:xfrm>
            <a:off x="868680" y="43434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B3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Detecting unusual household energy consumption from smart-meter data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25603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B3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ELECTRICITY BILL ANOMALY DETECTOR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10472623" y="237744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343434"/>
          </a:solidFill>
          <a:ln/>
        </p:spPr>
      </p:sp>
      <p:sp>
        <p:nvSpPr>
          <p:cNvPr id="5" name="Text 2"/>
          <p:cNvSpPr/>
          <p:nvPr/>
        </p:nvSpPr>
        <p:spPr>
          <a:xfrm>
            <a:off x="10472623" y="237744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1292840" y="219456"/>
            <a:ext cx="420624" cy="420624"/>
          </a:xfrm>
          <a:prstGeom prst="ellipse">
            <a:avLst/>
          </a:prstGeom>
          <a:solidFill>
            <a:srgbClr val="3B3E61"/>
          </a:solidFill>
          <a:ln/>
        </p:spPr>
      </p:sp>
      <p:sp>
        <p:nvSpPr>
          <p:cNvPr id="7" name="Text 4"/>
          <p:cNvSpPr/>
          <p:nvPr/>
        </p:nvSpPr>
        <p:spPr>
          <a:xfrm>
            <a:off x="1129284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1480" y="635508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3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ELECTRICITY BILL ANOMALY DETECTOR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 rot="2700000">
            <a:off x="10698480" y="868680"/>
            <a:ext cx="640080" cy="640080"/>
          </a:xfrm>
          <a:prstGeom prst="plus">
            <a:avLst/>
          </a:prstGeom>
          <a:solidFill>
            <a:srgbClr val="B7C4E8"/>
          </a:solidFill>
          <a:ln w="28575">
            <a:solidFill>
              <a:srgbClr val="3B3E6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7772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3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38912" y="109728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040"/>
              </a:lnSpc>
              <a:buNone/>
            </a:pPr>
            <a:r>
              <a:rPr lang="en-US" sz="3200" dirty="0">
                <a:solidFill>
                  <a:srgbClr val="3B3E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HOUSEHOLD BILLS SPIKE,</a:t>
            </a:r>
            <a:endParaRPr lang="en-US" sz="3200" dirty="0"/>
          </a:p>
          <a:p>
            <a:pPr marL="0" indent="0">
              <a:lnSpc>
                <a:spcPts val="3040"/>
              </a:lnSpc>
              <a:buNone/>
            </a:pPr>
            <a:r>
              <a:rPr lang="en-US" sz="3200" dirty="0">
                <a:solidFill>
                  <a:srgbClr val="3B3E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AND NO ONE KNOWS WHY</a:t>
            </a:r>
            <a:endParaRPr lang="en-US" sz="3200" dirty="0"/>
          </a:p>
        </p:txBody>
      </p:sp>
      <p:sp>
        <p:nvSpPr>
          <p:cNvPr id="13" name="Shape 10"/>
          <p:cNvSpPr/>
          <p:nvPr/>
        </p:nvSpPr>
        <p:spPr>
          <a:xfrm>
            <a:off x="438912" y="2606040"/>
            <a:ext cx="3520440" cy="2148840"/>
          </a:xfrm>
          <a:prstGeom prst="roundRect">
            <a:avLst>
              <a:gd name="adj" fmla="val 5957"/>
            </a:avLst>
          </a:prstGeom>
          <a:solidFill>
            <a:srgbClr val="343434"/>
          </a:solidFill>
          <a:ln/>
        </p:spPr>
      </p:sp>
      <p:sp>
        <p:nvSpPr>
          <p:cNvPr id="14" name="Text 11"/>
          <p:cNvSpPr/>
          <p:nvPr/>
        </p:nvSpPr>
        <p:spPr>
          <a:xfrm>
            <a:off x="694944" y="2807208"/>
            <a:ext cx="30083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7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Unpredictable bills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94944" y="3191256"/>
            <a:ext cx="3008376" cy="1380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unusually high reading can go unnoticed until the bill arrives.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215384" y="2606040"/>
            <a:ext cx="3520440" cy="2148840"/>
          </a:xfrm>
          <a:prstGeom prst="roundRect">
            <a:avLst>
              <a:gd name="adj" fmla="val 5957"/>
            </a:avLst>
          </a:prstGeom>
          <a:solidFill>
            <a:srgbClr val="343434"/>
          </a:solidFill>
          <a:ln/>
        </p:spPr>
      </p:sp>
      <p:sp>
        <p:nvSpPr>
          <p:cNvPr id="17" name="Text 14"/>
          <p:cNvSpPr/>
          <p:nvPr/>
        </p:nvSpPr>
        <p:spPr>
          <a:xfrm>
            <a:off x="4471416" y="2807208"/>
            <a:ext cx="30083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7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baseline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471416" y="3191256"/>
            <a:ext cx="3008376" cy="1380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Households rarely know what “normal” usage looks like for them.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991856" y="2606040"/>
            <a:ext cx="3520440" cy="2148840"/>
          </a:xfrm>
          <a:prstGeom prst="roundRect">
            <a:avLst>
              <a:gd name="adj" fmla="val 5957"/>
            </a:avLst>
          </a:prstGeom>
          <a:solidFill>
            <a:srgbClr val="343434"/>
          </a:solidFill>
          <a:ln/>
        </p:spPr>
      </p:sp>
      <p:sp>
        <p:nvSpPr>
          <p:cNvPr id="20" name="Text 17"/>
          <p:cNvSpPr/>
          <p:nvPr/>
        </p:nvSpPr>
        <p:spPr>
          <a:xfrm>
            <a:off x="8247888" y="2807208"/>
            <a:ext cx="30083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7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tracking is tedious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247888" y="3191256"/>
            <a:ext cx="3008376" cy="1380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Spotting a spike in raw meter numbers by eye is slow and unreliable.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38912" y="50749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B3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</a:t>
            </a:r>
            <a:r>
              <a:rPr lang="en-US" sz="1350" dirty="0">
                <a:solidFill>
                  <a:srgbClr val="3B3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 flag abnormal consumption per household and give people an easy way to see it.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25603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B3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ELECTRICITY BILL ANOMALY DETECTOR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10472623" y="237744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343434"/>
          </a:solidFill>
          <a:ln/>
        </p:spPr>
      </p:sp>
      <p:sp>
        <p:nvSpPr>
          <p:cNvPr id="5" name="Text 2"/>
          <p:cNvSpPr/>
          <p:nvPr/>
        </p:nvSpPr>
        <p:spPr>
          <a:xfrm>
            <a:off x="10472623" y="237744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1292840" y="219456"/>
            <a:ext cx="420624" cy="420624"/>
          </a:xfrm>
          <a:prstGeom prst="ellipse">
            <a:avLst/>
          </a:prstGeom>
          <a:solidFill>
            <a:srgbClr val="3B3E61"/>
          </a:solidFill>
          <a:ln/>
        </p:spPr>
      </p:sp>
      <p:sp>
        <p:nvSpPr>
          <p:cNvPr id="7" name="Text 4"/>
          <p:cNvSpPr/>
          <p:nvPr/>
        </p:nvSpPr>
        <p:spPr>
          <a:xfrm>
            <a:off x="1129284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1480" y="635508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3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ELECTRICITY BILL ANOMALY DETECTOR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0744200" y="777240"/>
            <a:ext cx="594360" cy="594360"/>
          </a:xfrm>
          <a:prstGeom prst="donut">
            <a:avLst/>
          </a:prstGeom>
          <a:solidFill>
            <a:srgbClr val="B7C4E8"/>
          </a:solidFill>
          <a:ln w="28575">
            <a:solidFill>
              <a:srgbClr val="3B3E6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7772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3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38912" y="109728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040"/>
              </a:lnSpc>
              <a:buNone/>
            </a:pPr>
            <a:r>
              <a:rPr lang="en-US" sz="3200" dirty="0">
                <a:solidFill>
                  <a:srgbClr val="3B3E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TWO DATA SOURCES</a:t>
            </a:r>
            <a:endParaRPr lang="en-US" sz="3200" dirty="0"/>
          </a:p>
        </p:txBody>
      </p:sp>
      <p:sp>
        <p:nvSpPr>
          <p:cNvPr id="13" name="Shape 10"/>
          <p:cNvSpPr/>
          <p:nvPr/>
        </p:nvSpPr>
        <p:spPr>
          <a:xfrm>
            <a:off x="438912" y="2423160"/>
            <a:ext cx="5257800" cy="3566160"/>
          </a:xfrm>
          <a:prstGeom prst="roundRect">
            <a:avLst>
              <a:gd name="adj" fmla="val 3590"/>
            </a:avLst>
          </a:prstGeom>
          <a:solidFill>
            <a:srgbClr val="FBF7EC"/>
          </a:solidFill>
          <a:ln/>
        </p:spPr>
      </p:sp>
      <p:pic>
        <p:nvPicPr>
          <p:cNvPr id="30" name="Icon Databas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2647188"/>
            <a:ext cx="274320" cy="274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78992" y="2624328"/>
            <a:ext cx="43616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3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daily_dataset.csv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94944" y="3008376"/>
            <a:ext cx="4745736" cy="2798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55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Smart-meter readings aggregated per household, per day.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55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LCLid (household ID)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55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day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55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energy_sum, energy_mean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55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energy_min, energy_max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55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energy_median, energy_std, energy_count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55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~1,048,575 rows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007608" y="2423160"/>
            <a:ext cx="5257800" cy="3566160"/>
          </a:xfrm>
          <a:prstGeom prst="roundRect">
            <a:avLst>
              <a:gd name="adj" fmla="val 3590"/>
            </a:avLst>
          </a:prstGeom>
          <a:solidFill>
            <a:srgbClr val="FBF7EC"/>
          </a:solidFill>
          <a:ln/>
        </p:spPr>
      </p:sp>
      <p:pic>
        <p:nvPicPr>
          <p:cNvPr id="31" name="Icon Zap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2647188"/>
            <a:ext cx="274320" cy="27432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647688" y="2624328"/>
            <a:ext cx="43616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3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meter_readings.csv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263640" y="3008376"/>
            <a:ext cx="4745736" cy="2798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55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User-entered readings captured through the app's own form.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55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timestamp, household_id, month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55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meter_reading_kwh, bill_amount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55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appliance, usage_hours_per_day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55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Grows as households log new readings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25603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B3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ELECTRICITY BILL ANOMALY DETECTOR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10472623" y="237744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343434"/>
          </a:solidFill>
          <a:ln/>
        </p:spPr>
      </p:sp>
      <p:sp>
        <p:nvSpPr>
          <p:cNvPr id="5" name="Text 2"/>
          <p:cNvSpPr/>
          <p:nvPr/>
        </p:nvSpPr>
        <p:spPr>
          <a:xfrm>
            <a:off x="10472623" y="237744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1292840" y="219456"/>
            <a:ext cx="420624" cy="420624"/>
          </a:xfrm>
          <a:prstGeom prst="ellipse">
            <a:avLst/>
          </a:prstGeom>
          <a:solidFill>
            <a:srgbClr val="3B3E61"/>
          </a:solidFill>
          <a:ln/>
        </p:spPr>
      </p:sp>
      <p:sp>
        <p:nvSpPr>
          <p:cNvPr id="7" name="Text 4"/>
          <p:cNvSpPr/>
          <p:nvPr/>
        </p:nvSpPr>
        <p:spPr>
          <a:xfrm>
            <a:off x="1129284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1480" y="635508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3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ELECTRICITY BILL ANOMALY DETECTOR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0561320" y="685800"/>
            <a:ext cx="685800" cy="685800"/>
          </a:xfrm>
          <a:prstGeom prst="star8">
            <a:avLst/>
          </a:prstGeom>
          <a:solidFill>
            <a:srgbClr val="B7C4E8"/>
          </a:solidFill>
          <a:ln w="28575">
            <a:solidFill>
              <a:srgbClr val="3B3E6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7772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3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PREPARING THE DATA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38912" y="109728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850"/>
              </a:lnSpc>
              <a:buNone/>
            </a:pPr>
            <a:r>
              <a:rPr lang="en-US" sz="3000" dirty="0">
                <a:solidFill>
                  <a:srgbClr val="3B3E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CLEANING BEFORE ANYTHING ELSE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438912" y="2468880"/>
            <a:ext cx="24917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B7C4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438912" y="3246120"/>
            <a:ext cx="24917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3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&amp; inspect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38912" y="3639312"/>
            <a:ext cx="24917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55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CSV, check shape, dtypes, and missing values.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930652" y="2523744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B3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3387852" y="2468880"/>
            <a:ext cx="24917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B7C4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400" dirty="0"/>
          </a:p>
        </p:txBody>
      </p:sp>
      <p:sp>
        <p:nvSpPr>
          <p:cNvPr id="18" name="Text 15"/>
          <p:cNvSpPr/>
          <p:nvPr/>
        </p:nvSpPr>
        <p:spPr>
          <a:xfrm>
            <a:off x="3387852" y="3246120"/>
            <a:ext cx="24917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3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Type-correct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387852" y="3639312"/>
            <a:ext cx="24917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55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day to datetime, coerce energy_sum to numeric.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879592" y="2523744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B3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336792" y="2468880"/>
            <a:ext cx="24917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B7C4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400" dirty="0"/>
          </a:p>
        </p:txBody>
      </p:sp>
      <p:sp>
        <p:nvSpPr>
          <p:cNvPr id="22" name="Text 19"/>
          <p:cNvSpPr/>
          <p:nvPr/>
        </p:nvSpPr>
        <p:spPr>
          <a:xfrm>
            <a:off x="6336792" y="3246120"/>
            <a:ext cx="24917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3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invalid rows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336792" y="3639312"/>
            <a:ext cx="24917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55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duplicates and rows missing an ID, date, or reading.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828532" y="2523744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B3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9285732" y="2468880"/>
            <a:ext cx="24917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B7C4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3400" dirty="0"/>
          </a:p>
        </p:txBody>
      </p:sp>
      <p:sp>
        <p:nvSpPr>
          <p:cNvPr id="26" name="Text 23"/>
          <p:cNvSpPr/>
          <p:nvPr/>
        </p:nvSpPr>
        <p:spPr>
          <a:xfrm>
            <a:off x="9285732" y="3246120"/>
            <a:ext cx="24917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3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9285732" y="3639312"/>
            <a:ext cx="24917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55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by household and date so trends and windows are meaningful.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38912" y="5349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B3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in load_and_clean_data() — electricity_anomaly_detector.py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25603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B3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ELECTRICITY BILL ANOMALY DETECTOR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10472623" y="237744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343434"/>
          </a:solidFill>
          <a:ln/>
        </p:spPr>
      </p:sp>
      <p:sp>
        <p:nvSpPr>
          <p:cNvPr id="5" name="Text 2"/>
          <p:cNvSpPr/>
          <p:nvPr/>
        </p:nvSpPr>
        <p:spPr>
          <a:xfrm>
            <a:off x="10472623" y="237744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1292840" y="219456"/>
            <a:ext cx="420624" cy="420624"/>
          </a:xfrm>
          <a:prstGeom prst="ellipse">
            <a:avLst/>
          </a:prstGeom>
          <a:solidFill>
            <a:srgbClr val="3B3E61"/>
          </a:solidFill>
          <a:ln/>
        </p:spPr>
      </p:sp>
      <p:sp>
        <p:nvSpPr>
          <p:cNvPr id="7" name="Text 4"/>
          <p:cNvSpPr/>
          <p:nvPr/>
        </p:nvSpPr>
        <p:spPr>
          <a:xfrm>
            <a:off x="1129284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1480" y="635508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3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ELECTRICITY BILL ANOMALY DETECTOR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 rot="2700000">
            <a:off x="10698480" y="731520"/>
            <a:ext cx="594360" cy="594360"/>
          </a:xfrm>
          <a:prstGeom prst="plus">
            <a:avLst/>
          </a:prstGeom>
          <a:solidFill>
            <a:srgbClr val="B7C4E8"/>
          </a:solidFill>
          <a:ln w="28575">
            <a:solidFill>
              <a:srgbClr val="3B3E6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7772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3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METHOD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38912" y="109728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850"/>
              </a:lnSpc>
              <a:buNone/>
            </a:pPr>
            <a:r>
              <a:rPr lang="en-US" sz="3000" dirty="0">
                <a:solidFill>
                  <a:srgbClr val="3B3E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FLAGGING WHAT FALLS OUTSIDE THE NORM</a:t>
            </a:r>
            <a:endParaRPr lang="en-US" sz="3000" dirty="0"/>
          </a:p>
        </p:txBody>
      </p:sp>
      <p:sp>
        <p:nvSpPr>
          <p:cNvPr id="13" name="Shape 10"/>
          <p:cNvSpPr/>
          <p:nvPr/>
        </p:nvSpPr>
        <p:spPr>
          <a:xfrm>
            <a:off x="438912" y="2423160"/>
            <a:ext cx="5257800" cy="2606040"/>
          </a:xfrm>
          <a:prstGeom prst="roundRect">
            <a:avLst>
              <a:gd name="adj" fmla="val 4912"/>
            </a:avLst>
          </a:prstGeom>
          <a:solidFill>
            <a:srgbClr val="343434"/>
          </a:solidFill>
          <a:ln/>
        </p:spPr>
      </p:sp>
      <p:sp>
        <p:nvSpPr>
          <p:cNvPr id="14" name="Text 11"/>
          <p:cNvSpPr/>
          <p:nvPr/>
        </p:nvSpPr>
        <p:spPr>
          <a:xfrm>
            <a:off x="694944" y="2624328"/>
            <a:ext cx="47457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7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Consumption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94944" y="3008376"/>
            <a:ext cx="4745736" cy="1837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upper bound  =  mean + k × std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energy_sum is above the household's upper bound.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007608" y="2423160"/>
            <a:ext cx="5257800" cy="2606040"/>
          </a:xfrm>
          <a:prstGeom prst="roundRect">
            <a:avLst>
              <a:gd name="adj" fmla="val 4912"/>
            </a:avLst>
          </a:prstGeom>
          <a:solidFill>
            <a:srgbClr val="343434"/>
          </a:solidFill>
          <a:ln/>
        </p:spPr>
      </p:sp>
      <p:sp>
        <p:nvSpPr>
          <p:cNvPr id="17" name="Text 14"/>
          <p:cNvSpPr/>
          <p:nvPr/>
        </p:nvSpPr>
        <p:spPr>
          <a:xfrm>
            <a:off x="6263640" y="2624328"/>
            <a:ext cx="47457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7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Consumption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263640" y="3008376"/>
            <a:ext cx="4745736" cy="1837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bound  =  mean − k × std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energy_sum is below the household's lower bound.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38912" y="5212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3B3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2 by default (adjustable). Everything else is classified Normal. anomaly_score = |value − mean| / std — used to rank the most extreme cases.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F2BB8C-E928-2A3F-346C-B00F93548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36430"/>
            <a:ext cx="12192000" cy="7237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536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25603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B3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ELECTRICITY BILL ANOMALY DETECTOR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10472623" y="237744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343434"/>
          </a:solidFill>
          <a:ln/>
        </p:spPr>
      </p:sp>
      <p:sp>
        <p:nvSpPr>
          <p:cNvPr id="5" name="Text 2"/>
          <p:cNvSpPr/>
          <p:nvPr/>
        </p:nvSpPr>
        <p:spPr>
          <a:xfrm>
            <a:off x="10472623" y="237744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1292840" y="219456"/>
            <a:ext cx="420624" cy="420624"/>
          </a:xfrm>
          <a:prstGeom prst="ellipse">
            <a:avLst/>
          </a:prstGeom>
          <a:solidFill>
            <a:srgbClr val="3B3E61"/>
          </a:solidFill>
          <a:ln/>
        </p:spPr>
      </p:sp>
      <p:sp>
        <p:nvSpPr>
          <p:cNvPr id="7" name="Text 4"/>
          <p:cNvSpPr/>
          <p:nvPr/>
        </p:nvSpPr>
        <p:spPr>
          <a:xfrm>
            <a:off x="1129284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1480" y="635508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3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ELECTRICITY BILL ANOMALY DETECTOR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0698480" y="731520"/>
            <a:ext cx="594360" cy="594360"/>
          </a:xfrm>
          <a:prstGeom prst="donut">
            <a:avLst/>
          </a:prstGeom>
          <a:solidFill>
            <a:srgbClr val="B7C4E8"/>
          </a:solidFill>
          <a:ln w="28575">
            <a:solidFill>
              <a:srgbClr val="3B3E6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7772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3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LAYER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38912" y="109728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850"/>
              </a:lnSpc>
              <a:buNone/>
            </a:pPr>
            <a:r>
              <a:rPr lang="en-US" sz="3000" dirty="0">
                <a:solidFill>
                  <a:srgbClr val="3B3E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THE ANALYSIS PRODUCES</a:t>
            </a:r>
            <a:endParaRPr lang="en-US" sz="3000" dirty="0"/>
          </a:p>
        </p:txBody>
      </p:sp>
      <p:sp>
        <p:nvSpPr>
          <p:cNvPr id="13" name="Shape 10"/>
          <p:cNvSpPr/>
          <p:nvPr/>
        </p:nvSpPr>
        <p:spPr>
          <a:xfrm>
            <a:off x="438912" y="2423160"/>
            <a:ext cx="3608832" cy="1508760"/>
          </a:xfrm>
          <a:prstGeom prst="roundRect">
            <a:avLst>
              <a:gd name="adj" fmla="val 7273"/>
            </a:avLst>
          </a:prstGeom>
          <a:solidFill>
            <a:srgbClr val="FBF7EC"/>
          </a:solidFill>
          <a:ln/>
        </p:spPr>
      </p:sp>
      <p:pic>
        <p:nvPicPr>
          <p:cNvPr id="140" name="Icon BarCha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2615184"/>
            <a:ext cx="274320" cy="274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42416" y="2606040"/>
            <a:ext cx="2785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B3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Household stats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58368" y="2935224"/>
            <a:ext cx="316992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55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mean, std, min, max, and total consumption per household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303776" y="2423160"/>
            <a:ext cx="3608832" cy="1508760"/>
          </a:xfrm>
          <a:prstGeom prst="roundRect">
            <a:avLst>
              <a:gd name="adj" fmla="val 7273"/>
            </a:avLst>
          </a:prstGeom>
          <a:solidFill>
            <a:srgbClr val="FBF7EC"/>
          </a:solidFill>
          <a:ln/>
        </p:spPr>
      </p:sp>
      <p:pic>
        <p:nvPicPr>
          <p:cNvPr id="141" name="Icon Calenda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3232" y="2615184"/>
            <a:ext cx="274320" cy="27432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907280" y="2606040"/>
            <a:ext cx="2785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B3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&amp; monthly summaries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523232" y="2935224"/>
            <a:ext cx="316992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55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consumption resampled by week and by calendar month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168640" y="2423160"/>
            <a:ext cx="3608832" cy="1508760"/>
          </a:xfrm>
          <a:prstGeom prst="roundRect">
            <a:avLst>
              <a:gd name="adj" fmla="val 7273"/>
            </a:avLst>
          </a:prstGeom>
          <a:solidFill>
            <a:srgbClr val="FBF7EC"/>
          </a:solidFill>
          <a:ln/>
        </p:spPr>
      </p:sp>
      <p:pic>
        <p:nvPicPr>
          <p:cNvPr id="142" name="Icon Aler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8096" y="2615184"/>
            <a:ext cx="274320" cy="27432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8772144" y="2606040"/>
            <a:ext cx="2785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B3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Household anomaly summary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388096" y="2935224"/>
            <a:ext cx="316992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55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count and anomaly rate (%) per household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38912" y="4187952"/>
            <a:ext cx="3608832" cy="1508760"/>
          </a:xfrm>
          <a:prstGeom prst="roundRect">
            <a:avLst>
              <a:gd name="adj" fmla="val 7273"/>
            </a:avLst>
          </a:prstGeom>
          <a:solidFill>
            <a:srgbClr val="FBF7EC"/>
          </a:solidFill>
          <a:ln/>
        </p:spPr>
      </p:sp>
      <p:pic>
        <p:nvPicPr>
          <p:cNvPr id="143" name="Icon Trendi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4379976"/>
            <a:ext cx="274320" cy="27432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042416" y="4370832"/>
            <a:ext cx="2785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B3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anomalies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658368" y="4700016"/>
            <a:ext cx="316992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55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extreme readings, ranked by anomaly score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303776" y="4187952"/>
            <a:ext cx="3608832" cy="1508760"/>
          </a:xfrm>
          <a:prstGeom prst="roundRect">
            <a:avLst>
              <a:gd name="adj" fmla="val 7273"/>
            </a:avLst>
          </a:prstGeom>
          <a:solidFill>
            <a:srgbClr val="FBF7EC"/>
          </a:solidFill>
          <a:ln/>
        </p:spPr>
      </p:sp>
      <p:pic>
        <p:nvPicPr>
          <p:cNvPr id="144" name="Icon Filte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3232" y="4379976"/>
            <a:ext cx="274320" cy="27432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4907280" y="4370832"/>
            <a:ext cx="2785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B3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Date-range filtering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4523232" y="4700016"/>
            <a:ext cx="316992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55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 any of the above to a chosen start/end date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8168640" y="4187952"/>
            <a:ext cx="3608832" cy="1508760"/>
          </a:xfrm>
          <a:prstGeom prst="roundRect">
            <a:avLst>
              <a:gd name="adj" fmla="val 7273"/>
            </a:avLst>
          </a:prstGeom>
          <a:solidFill>
            <a:srgbClr val="FBF7EC"/>
          </a:solidFill>
          <a:ln/>
        </p:spPr>
      </p:sp>
      <p:pic>
        <p:nvPicPr>
          <p:cNvPr id="145" name="Icon Hom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8096" y="4379976"/>
            <a:ext cx="274320" cy="27432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8772144" y="4370832"/>
            <a:ext cx="2785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B3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Single-household lookup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8388096" y="4700016"/>
            <a:ext cx="316992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55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 one household's full history by LCLid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25603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B3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ELECTRICITY BILL ANOMALY DETECTOR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10472623" y="237744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343434"/>
          </a:solidFill>
          <a:ln/>
        </p:spPr>
      </p:sp>
      <p:sp>
        <p:nvSpPr>
          <p:cNvPr id="5" name="Text 2"/>
          <p:cNvSpPr/>
          <p:nvPr/>
        </p:nvSpPr>
        <p:spPr>
          <a:xfrm>
            <a:off x="10472623" y="237744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1292840" y="219456"/>
            <a:ext cx="420624" cy="420624"/>
          </a:xfrm>
          <a:prstGeom prst="ellipse">
            <a:avLst/>
          </a:prstGeom>
          <a:solidFill>
            <a:srgbClr val="3B3E61"/>
          </a:solidFill>
          <a:ln/>
        </p:spPr>
      </p:sp>
      <p:sp>
        <p:nvSpPr>
          <p:cNvPr id="7" name="Text 4"/>
          <p:cNvSpPr/>
          <p:nvPr/>
        </p:nvSpPr>
        <p:spPr>
          <a:xfrm>
            <a:off x="1129284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1480" y="635508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3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ELECTRICITY BILL ANOMALY DETECTOR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0561320" y="731520"/>
            <a:ext cx="640080" cy="640080"/>
          </a:xfrm>
          <a:prstGeom prst="star8">
            <a:avLst/>
          </a:prstGeom>
          <a:solidFill>
            <a:srgbClr val="B7C4E8"/>
          </a:solidFill>
          <a:ln w="28575">
            <a:solidFill>
              <a:srgbClr val="3B3E6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7772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3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VISUALIZATIONS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38912" y="109728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660"/>
              </a:lnSpc>
              <a:buNone/>
            </a:pPr>
            <a:r>
              <a:rPr lang="en-US" sz="2800" dirty="0">
                <a:solidFill>
                  <a:srgbClr val="3B3E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EIGHT WAYS TO LOOK AT THE DATA (1/2)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438912" y="2286000"/>
            <a:ext cx="55321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5875">
            <a:solidFill>
              <a:srgbClr val="34343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" y="2359152"/>
            <a:ext cx="5276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3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Distribution</a:t>
            </a:r>
            <a:endParaRPr lang="en-US" sz="1100" dirty="0"/>
          </a:p>
        </p:txBody>
      </p:sp>
      <p:pic>
        <p:nvPicPr>
          <p:cNvPr id="15" name="Image 1" descr="assets/chart_distribution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8640" y="2670048"/>
            <a:ext cx="5312664" cy="128930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245352" y="2286000"/>
            <a:ext cx="55321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5875">
            <a:solidFill>
              <a:srgbClr val="34343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373368" y="2359152"/>
            <a:ext cx="5276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3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Trend</a:t>
            </a:r>
            <a:endParaRPr lang="en-US" sz="1100" dirty="0"/>
          </a:p>
        </p:txBody>
      </p:sp>
      <p:pic>
        <p:nvPicPr>
          <p:cNvPr id="18" name="Image 2" descr="assets/chart_daily_tren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355080" y="2670048"/>
            <a:ext cx="5312664" cy="1289304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438912" y="4297680"/>
            <a:ext cx="55321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5875">
            <a:solidFill>
              <a:srgbClr val="343434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66928" y="4370832"/>
            <a:ext cx="5276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3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Distribution</a:t>
            </a:r>
            <a:endParaRPr lang="en-US" sz="1100" dirty="0"/>
          </a:p>
        </p:txBody>
      </p:sp>
      <p:pic>
        <p:nvPicPr>
          <p:cNvPr id="21" name="Image 3" descr="assets/chart_monthly_boxplot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48640" y="4681728"/>
            <a:ext cx="5312664" cy="1289304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6245352" y="4297680"/>
            <a:ext cx="55321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5875">
            <a:solidFill>
              <a:srgbClr val="343434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6373368" y="4370832"/>
            <a:ext cx="5276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3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Heatmap</a:t>
            </a:r>
            <a:endParaRPr lang="en-US" sz="1100" dirty="0"/>
          </a:p>
        </p:txBody>
      </p:sp>
      <p:pic>
        <p:nvPicPr>
          <p:cNvPr id="24" name="Image 4" descr="assets/chart_correlation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355080" y="4681728"/>
            <a:ext cx="5312664" cy="12893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25603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B3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ELECTRICITY BILL ANOMALY DETECTOR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10472623" y="237744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343434"/>
          </a:solidFill>
          <a:ln/>
        </p:spPr>
      </p:sp>
      <p:sp>
        <p:nvSpPr>
          <p:cNvPr id="5" name="Text 2"/>
          <p:cNvSpPr/>
          <p:nvPr/>
        </p:nvSpPr>
        <p:spPr>
          <a:xfrm>
            <a:off x="10472623" y="237744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1292840" y="219456"/>
            <a:ext cx="420624" cy="420624"/>
          </a:xfrm>
          <a:prstGeom prst="ellipse">
            <a:avLst/>
          </a:prstGeom>
          <a:solidFill>
            <a:srgbClr val="3B3E61"/>
          </a:solidFill>
          <a:ln/>
        </p:spPr>
      </p:sp>
      <p:sp>
        <p:nvSpPr>
          <p:cNvPr id="7" name="Text 4"/>
          <p:cNvSpPr/>
          <p:nvPr/>
        </p:nvSpPr>
        <p:spPr>
          <a:xfrm>
            <a:off x="1129284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1480" y="635508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3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ELECTRICITY BILL ANOMALY DETECTOR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 rot="2700000">
            <a:off x="10698480" y="777240"/>
            <a:ext cx="594360" cy="594360"/>
          </a:xfrm>
          <a:prstGeom prst="plus">
            <a:avLst/>
          </a:prstGeom>
          <a:solidFill>
            <a:srgbClr val="B7C4E8"/>
          </a:solidFill>
          <a:ln w="28575">
            <a:solidFill>
              <a:srgbClr val="3B3E6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7772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3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VISUALIZATIONS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38912" y="109728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660"/>
              </a:lnSpc>
              <a:buNone/>
            </a:pPr>
            <a:r>
              <a:rPr lang="en-US" sz="2800" dirty="0">
                <a:solidFill>
                  <a:srgbClr val="3B3E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EIGHT WAYS TO LOOK AT THE DATA (2/2)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438912" y="2286000"/>
            <a:ext cx="55321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5875">
            <a:solidFill>
              <a:srgbClr val="34343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" y="2359152"/>
            <a:ext cx="5276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3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Anomalous Households</a:t>
            </a:r>
            <a:endParaRPr lang="en-US" sz="1100" dirty="0"/>
          </a:p>
        </p:txBody>
      </p:sp>
      <p:pic>
        <p:nvPicPr>
          <p:cNvPr id="15" name="Image 1" descr="assets/chart_top10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8640" y="2670048"/>
            <a:ext cx="5312664" cy="128930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245352" y="2286000"/>
            <a:ext cx="55321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5875">
            <a:solidFill>
              <a:srgbClr val="34343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373368" y="2359152"/>
            <a:ext cx="5276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3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by Day of Week</a:t>
            </a:r>
            <a:endParaRPr lang="en-US" sz="1100" dirty="0"/>
          </a:p>
        </p:txBody>
      </p:sp>
      <p:pic>
        <p:nvPicPr>
          <p:cNvPr id="18" name="Image 2" descr="assets/chart_dow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355080" y="2670048"/>
            <a:ext cx="5312664" cy="1289304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438912" y="4297680"/>
            <a:ext cx="55321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5875">
            <a:solidFill>
              <a:srgbClr val="343434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66928" y="4370832"/>
            <a:ext cx="5276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3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Trend</a:t>
            </a:r>
            <a:endParaRPr lang="en-US" sz="1100" dirty="0"/>
          </a:p>
        </p:txBody>
      </p:sp>
      <p:pic>
        <p:nvPicPr>
          <p:cNvPr id="21" name="Image 3" descr="assets/chart_weekly_tren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48640" y="4681728"/>
            <a:ext cx="5312664" cy="1289304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6245352" y="4297680"/>
            <a:ext cx="55321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5875">
            <a:solidFill>
              <a:srgbClr val="343434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6373368" y="4370832"/>
            <a:ext cx="5276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3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Scatter Plot</a:t>
            </a:r>
            <a:endParaRPr lang="en-US" sz="1100" dirty="0"/>
          </a:p>
        </p:txBody>
      </p:sp>
      <p:pic>
        <p:nvPicPr>
          <p:cNvPr id="24" name="Image 4" descr="assets/chart_scatter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355080" y="4681728"/>
            <a:ext cx="5312664" cy="128930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25603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B3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ELECTRICITY BILL ANOMALY DETECTOR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10472623" y="237744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343434"/>
          </a:solidFill>
          <a:ln/>
        </p:spPr>
      </p:sp>
      <p:sp>
        <p:nvSpPr>
          <p:cNvPr id="5" name="Text 2"/>
          <p:cNvSpPr/>
          <p:nvPr/>
        </p:nvSpPr>
        <p:spPr>
          <a:xfrm>
            <a:off x="10472623" y="237744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1292840" y="219456"/>
            <a:ext cx="420624" cy="420624"/>
          </a:xfrm>
          <a:prstGeom prst="ellipse">
            <a:avLst/>
          </a:prstGeom>
          <a:solidFill>
            <a:srgbClr val="3B3E61"/>
          </a:solidFill>
          <a:ln/>
        </p:spPr>
      </p:sp>
      <p:sp>
        <p:nvSpPr>
          <p:cNvPr id="7" name="Text 4"/>
          <p:cNvSpPr/>
          <p:nvPr/>
        </p:nvSpPr>
        <p:spPr>
          <a:xfrm>
            <a:off x="1129284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1480" y="635508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3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ELECTRICITY BILL ANOMALY DETECTOR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 rot="2700000">
            <a:off x="10744200" y="777240"/>
            <a:ext cx="594360" cy="594360"/>
          </a:xfrm>
          <a:prstGeom prst="plus">
            <a:avLst/>
          </a:prstGeom>
          <a:solidFill>
            <a:srgbClr val="B7C4E8"/>
          </a:solidFill>
          <a:ln w="28575">
            <a:solidFill>
              <a:srgbClr val="3B3E6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7772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3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APPLICATION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38912" y="109728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850"/>
              </a:lnSpc>
              <a:buNone/>
            </a:pPr>
            <a:r>
              <a:rPr lang="en-US" sz="3000" dirty="0">
                <a:solidFill>
                  <a:srgbClr val="3B3E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DESKTOP APP, NOT JUST A SCRIPT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457200" y="190195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B3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Tkinter (gui.py) on top of the analysis module.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38912" y="2331720"/>
            <a:ext cx="3608832" cy="1417320"/>
          </a:xfrm>
          <a:prstGeom prst="roundRect">
            <a:avLst>
              <a:gd name="adj" fmla="val 7742"/>
            </a:avLst>
          </a:prstGeom>
          <a:solidFill>
            <a:srgbClr val="FBF7EC"/>
          </a:solidFill>
          <a:ln/>
        </p:spPr>
      </p:sp>
      <p:sp>
        <p:nvSpPr>
          <p:cNvPr id="15" name="Text 12"/>
          <p:cNvSpPr/>
          <p:nvPr/>
        </p:nvSpPr>
        <p:spPr>
          <a:xfrm>
            <a:off x="658368" y="2514600"/>
            <a:ext cx="316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B3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Login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58368" y="2843784"/>
            <a:ext cx="3169920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55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entry point into the app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303776" y="2331720"/>
            <a:ext cx="3608832" cy="1417320"/>
          </a:xfrm>
          <a:prstGeom prst="roundRect">
            <a:avLst>
              <a:gd name="adj" fmla="val 7742"/>
            </a:avLst>
          </a:prstGeom>
          <a:solidFill>
            <a:srgbClr val="FBF7EC"/>
          </a:solidFill>
          <a:ln/>
        </p:spPr>
      </p:sp>
      <p:sp>
        <p:nvSpPr>
          <p:cNvPr id="18" name="Text 15"/>
          <p:cNvSpPr/>
          <p:nvPr/>
        </p:nvSpPr>
        <p:spPr>
          <a:xfrm>
            <a:off x="4523232" y="2514600"/>
            <a:ext cx="316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B3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Dashboard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523232" y="2843784"/>
            <a:ext cx="3169920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55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overview of household activity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168640" y="2331720"/>
            <a:ext cx="3608832" cy="1417320"/>
          </a:xfrm>
          <a:prstGeom prst="roundRect">
            <a:avLst>
              <a:gd name="adj" fmla="val 7742"/>
            </a:avLst>
          </a:prstGeom>
          <a:solidFill>
            <a:srgbClr val="FBF7EC"/>
          </a:solidFill>
          <a:ln/>
        </p:spPr>
      </p:sp>
      <p:sp>
        <p:nvSpPr>
          <p:cNvPr id="21" name="Text 18"/>
          <p:cNvSpPr/>
          <p:nvPr/>
        </p:nvSpPr>
        <p:spPr>
          <a:xfrm>
            <a:off x="8388096" y="2514600"/>
            <a:ext cx="316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B3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Meter Readings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8388096" y="2843784"/>
            <a:ext cx="3169920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55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a monthly reading, bill amount, and appliance usage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38912" y="3986784"/>
            <a:ext cx="3608832" cy="1417320"/>
          </a:xfrm>
          <a:prstGeom prst="roundRect">
            <a:avLst>
              <a:gd name="adj" fmla="val 7742"/>
            </a:avLst>
          </a:prstGeom>
          <a:solidFill>
            <a:srgbClr val="FBF7EC"/>
          </a:solidFill>
          <a:ln/>
        </p:spPr>
      </p:sp>
      <p:sp>
        <p:nvSpPr>
          <p:cNvPr id="24" name="Text 21"/>
          <p:cNvSpPr/>
          <p:nvPr/>
        </p:nvSpPr>
        <p:spPr>
          <a:xfrm>
            <a:off x="658368" y="4169664"/>
            <a:ext cx="316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B3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History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658368" y="4498848"/>
            <a:ext cx="3169920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55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every saved reading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303776" y="3986784"/>
            <a:ext cx="3608832" cy="1417320"/>
          </a:xfrm>
          <a:prstGeom prst="roundRect">
            <a:avLst>
              <a:gd name="adj" fmla="val 7742"/>
            </a:avLst>
          </a:prstGeom>
          <a:solidFill>
            <a:srgbClr val="FBF7EC"/>
          </a:solidFill>
          <a:ln/>
        </p:spPr>
      </p:sp>
      <p:sp>
        <p:nvSpPr>
          <p:cNvPr id="27" name="Text 24"/>
          <p:cNvSpPr/>
          <p:nvPr/>
        </p:nvSpPr>
        <p:spPr>
          <a:xfrm>
            <a:off x="4523232" y="4169664"/>
            <a:ext cx="316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B3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Household Analysis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4523232" y="4498848"/>
            <a:ext cx="3169920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55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household and date range, run the detector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8168640" y="3986784"/>
            <a:ext cx="3608832" cy="1417320"/>
          </a:xfrm>
          <a:prstGeom prst="roundRect">
            <a:avLst>
              <a:gd name="adj" fmla="val 7742"/>
            </a:avLst>
          </a:prstGeom>
          <a:solidFill>
            <a:srgbClr val="FBF7EC"/>
          </a:solidFill>
          <a:ln/>
        </p:spPr>
      </p:sp>
      <p:sp>
        <p:nvSpPr>
          <p:cNvPr id="30" name="Text 27"/>
          <p:cNvSpPr/>
          <p:nvPr/>
        </p:nvSpPr>
        <p:spPr>
          <a:xfrm>
            <a:off x="8388096" y="4169664"/>
            <a:ext cx="316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B3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 Visualizations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8388096" y="4498848"/>
            <a:ext cx="3169920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55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eight charts, embedded and interactive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25603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B3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ELECTRICITY BILL ANOMALY DETECTOR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10472623" y="237744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343434"/>
          </a:solidFill>
          <a:ln/>
        </p:spPr>
      </p:sp>
      <p:sp>
        <p:nvSpPr>
          <p:cNvPr id="5" name="Text 2"/>
          <p:cNvSpPr/>
          <p:nvPr/>
        </p:nvSpPr>
        <p:spPr>
          <a:xfrm>
            <a:off x="10472623" y="237744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1292840" y="219456"/>
            <a:ext cx="420624" cy="420624"/>
          </a:xfrm>
          <a:prstGeom prst="ellipse">
            <a:avLst/>
          </a:prstGeom>
          <a:solidFill>
            <a:srgbClr val="3B3E61"/>
          </a:solidFill>
          <a:ln/>
        </p:spPr>
      </p:sp>
      <p:sp>
        <p:nvSpPr>
          <p:cNvPr id="7" name="Text 4"/>
          <p:cNvSpPr/>
          <p:nvPr/>
        </p:nvSpPr>
        <p:spPr>
          <a:xfrm>
            <a:off x="1129284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1480" y="635508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3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ELECTRICITY BILL ANOMALY DETECTOR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0607040" y="731520"/>
            <a:ext cx="594360" cy="594360"/>
          </a:xfrm>
          <a:prstGeom prst="star8">
            <a:avLst/>
          </a:prstGeom>
          <a:solidFill>
            <a:srgbClr val="B7C4E8"/>
          </a:solidFill>
          <a:ln w="28575">
            <a:solidFill>
              <a:srgbClr val="3B3E6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7772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3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APPLICATION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38912" y="10972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660"/>
              </a:lnSpc>
              <a:buNone/>
            </a:pPr>
            <a:r>
              <a:rPr lang="en-US" sz="2800" dirty="0">
                <a:solidFill>
                  <a:srgbClr val="3B3E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HOUSEHOLD ANALYSIS IN ACTION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2560136" y="2039112"/>
            <a:ext cx="7071423" cy="4197096"/>
          </a:xfrm>
          <a:prstGeom prst="roundRect">
            <a:avLst>
              <a:gd name="adj" fmla="val 2179"/>
            </a:avLst>
          </a:prstGeom>
          <a:solidFill>
            <a:srgbClr val="343434"/>
          </a:solidFill>
          <a:ln/>
        </p:spPr>
      </p:sp>
      <p:pic>
        <p:nvPicPr>
          <p:cNvPr id="14" name="Image 1" descr="assets/gui_screensh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9864" y="2148840"/>
            <a:ext cx="6851967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25603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B3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ELECTRICITY BILL ANOMALY DETECTOR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10472623" y="237744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343434"/>
          </a:solidFill>
          <a:ln/>
        </p:spPr>
      </p:sp>
      <p:sp>
        <p:nvSpPr>
          <p:cNvPr id="5" name="Text 2"/>
          <p:cNvSpPr/>
          <p:nvPr/>
        </p:nvSpPr>
        <p:spPr>
          <a:xfrm>
            <a:off x="10472623" y="237744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1292840" y="219456"/>
            <a:ext cx="420624" cy="420624"/>
          </a:xfrm>
          <a:prstGeom prst="ellipse">
            <a:avLst/>
          </a:prstGeom>
          <a:solidFill>
            <a:srgbClr val="3B3E61"/>
          </a:solidFill>
          <a:ln/>
        </p:spPr>
      </p:sp>
      <p:sp>
        <p:nvSpPr>
          <p:cNvPr id="7" name="Text 4"/>
          <p:cNvSpPr/>
          <p:nvPr/>
        </p:nvSpPr>
        <p:spPr>
          <a:xfrm>
            <a:off x="1129284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1480" y="635508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3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ELECTRICITY BILL ANOMALY DETECTOR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0652760" y="713232"/>
            <a:ext cx="621792" cy="621792"/>
          </a:xfrm>
          <a:prstGeom prst="donut">
            <a:avLst/>
          </a:prstGeom>
          <a:solidFill>
            <a:srgbClr val="B7C4E8"/>
          </a:solidFill>
          <a:ln w="28575">
            <a:solidFill>
              <a:srgbClr val="3B3E6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7772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3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38912" y="109728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850"/>
              </a:lnSpc>
              <a:buNone/>
            </a:pPr>
            <a:r>
              <a:rPr lang="en-US" sz="3000" dirty="0">
                <a:solidFill>
                  <a:srgbClr val="3B3E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RAW METER DATA TO A CLEAR SIGNAL</a:t>
            </a:r>
            <a:endParaRPr lang="en-US" sz="3000" dirty="0"/>
          </a:p>
        </p:txBody>
      </p:sp>
      <p:sp>
        <p:nvSpPr>
          <p:cNvPr id="13" name="Shape 10"/>
          <p:cNvSpPr/>
          <p:nvPr/>
        </p:nvSpPr>
        <p:spPr>
          <a:xfrm>
            <a:off x="438912" y="2377440"/>
            <a:ext cx="5257800" cy="2834640"/>
          </a:xfrm>
          <a:prstGeom prst="roundRect">
            <a:avLst>
              <a:gd name="adj" fmla="val 4516"/>
            </a:avLst>
          </a:prstGeom>
          <a:solidFill>
            <a:srgbClr val="343434"/>
          </a:solidFill>
          <a:ln/>
        </p:spPr>
      </p:sp>
      <p:sp>
        <p:nvSpPr>
          <p:cNvPr id="14" name="Text 11"/>
          <p:cNvSpPr/>
          <p:nvPr/>
        </p:nvSpPr>
        <p:spPr>
          <a:xfrm>
            <a:off x="694944" y="2578608"/>
            <a:ext cx="47457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gives a household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94944" y="2962656"/>
            <a:ext cx="4745736" cy="2066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A clean, deduplicated view of daily usage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A statistical baseline unique to each household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Automatic flags on unusually high or low days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Charts and a simple app to explore it all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007608" y="2377440"/>
            <a:ext cx="5257800" cy="2834640"/>
          </a:xfrm>
          <a:prstGeom prst="roundRect">
            <a:avLst>
              <a:gd name="adj" fmla="val 4516"/>
            </a:avLst>
          </a:prstGeom>
          <a:solidFill>
            <a:srgbClr val="343434"/>
          </a:solidFill>
          <a:ln/>
        </p:spPr>
      </p:sp>
      <p:sp>
        <p:nvSpPr>
          <p:cNvPr id="17" name="Text 14"/>
          <p:cNvSpPr/>
          <p:nvPr/>
        </p:nvSpPr>
        <p:spPr>
          <a:xfrm>
            <a:off x="6263640" y="2578608"/>
            <a:ext cx="47457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Possible next steps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263640" y="2962656"/>
            <a:ext cx="4745736" cy="2066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Tune k per household instead of a fixed default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Add seasonal / weather-adjusted baselines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Send alerts when a new reading is anomalous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Persist history to a proper database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38912" y="54406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3B3E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786</Words>
  <Application>Microsoft Office PowerPoint</Application>
  <PresentationFormat>Widescreen</PresentationFormat>
  <Paragraphs>172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Archita Jha</cp:lastModifiedBy>
  <cp:revision>4</cp:revision>
  <dcterms:created xsi:type="dcterms:W3CDTF">2026-08-24T18:31:18Z</dcterms:created>
  <dcterms:modified xsi:type="dcterms:W3CDTF">2026-08-25T04:45:00Z</dcterms:modified>
</cp:coreProperties>
</file>